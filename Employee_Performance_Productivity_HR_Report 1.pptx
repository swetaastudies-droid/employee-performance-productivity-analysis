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C4DA"/>
                </a:solidFill>
                <a:latin typeface="Aptos"/>
              </a:defRPr>
            </a:pPr>
            <a:r>
              <a:t>HR ANALYTICS  |  EMPLOYEE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Employee Performance</a:t>
            </a:r>
            <a:br/>
            <a:r>
              <a:t>&amp; Productivity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7EF"/>
                </a:solidFill>
                <a:latin typeface="Aptos"/>
              </a:defRPr>
            </a:pPr>
            <a:r>
              <a:t>Dashboard Insights • KPI Analysis • Scenario Modelling • HR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42976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K.B. Swetaa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C4DA"/>
                </a:solidFill>
                <a:latin typeface="Aptos"/>
              </a:defRPr>
            </a:pPr>
            <a:r>
              <a:t>Microsoft Excel  |  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A concise view of workforce performance, utilization and development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33172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AVG PERFORMANCE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3.31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45720" cy="1188720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33172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8132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AVG 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013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55.35%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25880"/>
            <a:ext cx="45720" cy="1188720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233172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48132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HIGH PERFORMERS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8013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43.33%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25880"/>
            <a:ext cx="45720" cy="1188720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39" y="1325880"/>
            <a:ext cx="233172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148132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AVG TRAINING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18013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10.96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39" y="1325880"/>
            <a:ext cx="45720" cy="1188720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2880360"/>
            <a:ext cx="10698480" cy="2743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200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WHAT THE ANALYSIS SHOWS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9601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0E7EF"/>
                </a:solidFill>
                <a:latin typeface="Aptos"/>
              </a:defRPr>
            </a:pPr>
            <a:r>
              <a:t>• The analysis evaluates employee performance, productivity, utilization, training hours and target achievement.</a:t>
            </a:r>
          </a:p>
          <a:p>
            <a:pPr>
              <a:spcAft>
                <a:spcPts val="700"/>
              </a:spcAft>
              <a:defRPr sz="1300">
                <a:solidFill>
                  <a:srgbClr val="E0E7EF"/>
                </a:solidFill>
                <a:latin typeface="Aptos"/>
              </a:defRPr>
            </a:pPr>
            <a:r>
              <a:t>• Department-level views reveal differences in performance and productivity patterns.</a:t>
            </a:r>
          </a:p>
          <a:p>
            <a:pPr>
              <a:spcAft>
                <a:spcPts val="700"/>
              </a:spcAft>
              <a:defRPr sz="1300">
                <a:solidFill>
                  <a:srgbClr val="E0E7EF"/>
                </a:solidFill>
                <a:latin typeface="Aptos"/>
              </a:defRPr>
            </a:pPr>
            <a:r>
              <a:t>• Scenario modelling tests how changes in training and target achievement could affect performance indicators.</a:t>
            </a:r>
          </a:p>
          <a:p>
            <a:pPr>
              <a:spcAft>
                <a:spcPts val="700"/>
              </a:spcAft>
              <a:defRPr sz="1300">
                <a:solidFill>
                  <a:srgbClr val="E0E7EF"/>
                </a:solidFill>
                <a:latin typeface="Aptos"/>
              </a:defRPr>
            </a:pPr>
            <a:r>
              <a:t>• The dashboard supports targeted training, productivity management and workload planning.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49240"/>
            <a:ext cx="9966960" cy="59436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5532120"/>
            <a:ext cx="9418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  <a:latin typeface="Aptos"/>
              </a:defRPr>
            </a:pPr>
            <a:r>
              <a:t>Employee performance can be supported through targeted training, productivity management and appropriate workload planning.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KPI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Baseline metrics and modeled scenario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AVERAGE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470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3.31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45720" cy="1188720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5270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AVERAGE 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470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55.35%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45720" cy="1188720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5270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HIGH PERFORMER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470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43.33%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45720" cy="1188720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69680" y="137160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59" y="15270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AVERAGE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8470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10.96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371600"/>
            <a:ext cx="45720" cy="1188720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288036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0358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SCENARIO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3558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3.98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80360"/>
            <a:ext cx="45720" cy="1188720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83280" y="288036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30358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SCENARIO UTILIZATION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3558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66.42%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880360"/>
            <a:ext cx="45720" cy="1188720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26480" y="288036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0358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SCENARIO TARGET ACHIEVEMENT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558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85.24%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880360"/>
            <a:ext cx="45720" cy="1188720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4572000"/>
            <a:ext cx="10698480" cy="114300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828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READOUT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7548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Baseline performance is moderate, while the scenario model illustrates potential improvement under changed assumptions.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Department-Wise Performance &amp;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Comparing average performance ratings with productivity mix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20624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6094" y="1783079"/>
            <a:ext cx="328155" cy="3154679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02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HR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1879" y="1783079"/>
            <a:ext cx="328155" cy="3154679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17287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47664" y="1783079"/>
            <a:ext cx="328155" cy="3154679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83072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3449" y="1873213"/>
            <a:ext cx="328155" cy="3064546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8857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Mktg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9234" y="1963347"/>
            <a:ext cx="328155" cy="2974412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4642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Cust. Supp.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5019" y="1963347"/>
            <a:ext cx="328155" cy="2974412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0427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0804" y="1963347"/>
            <a:ext cx="328155" cy="2974412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46212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76589" y="2323882"/>
            <a:ext cx="328155" cy="2613877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1997" y="5010912"/>
            <a:ext cx="657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46303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DABBE"/>
                </a:solidFill>
                <a:latin typeface="Aptos"/>
              </a:defRPr>
            </a:pPr>
            <a:r>
              <a:t>Higher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325880"/>
            <a:ext cx="5257800" cy="420624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55574" y="1783079"/>
            <a:ext cx="324840" cy="3154679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098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15644" y="1875864"/>
            <a:ext cx="324840" cy="3061895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105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Cust.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5714" y="1968649"/>
            <a:ext cx="324840" cy="2969110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1112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5784" y="2247003"/>
            <a:ext cx="324840" cy="2690756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7119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5854" y="2247003"/>
            <a:ext cx="324840" cy="2690756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126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Mktg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5924" y="2247003"/>
            <a:ext cx="324840" cy="2690756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133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5994" y="2339788"/>
            <a:ext cx="324840" cy="2597971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5140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76064" y="2525357"/>
            <a:ext cx="324840" cy="2412402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11472" y="5010912"/>
            <a:ext cx="654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DABBE"/>
                </a:solidFill>
                <a:latin typeface="Aptos"/>
              </a:defRPr>
            </a:pPr>
            <a:r>
              <a:t>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146303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DABBE"/>
                </a:solidFill>
                <a:latin typeface="Aptos"/>
              </a:defRPr>
            </a:pPr>
            <a:r>
              <a:t>Higher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69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HR, IT and Sales show relatively higher average ratings in the dashboard; Finance is comparatively lower.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669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Productivity is distributed across High, Low and Medium categories, creating scope for targeted interventions.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Employee Productivity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Understanding the distribution of productivity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0040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856231"/>
            <a:ext cx="640080" cy="640080"/>
          </a:xfrm>
          <a:prstGeom prst="ellipse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HIGH PRODUCTIVITY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DABBE"/>
                </a:solidFill>
                <a:latin typeface="Aptos"/>
              </a:defRPr>
            </a:pPr>
            <a:r>
              <a:t>Smaller 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20040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1856231"/>
            <a:ext cx="640080" cy="640080"/>
          </a:xfrm>
          <a:prstGeom prst="ellipse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MEDIUM 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79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DABBE"/>
                </a:solidFill>
                <a:latin typeface="Aptos"/>
              </a:defRPr>
            </a:pPr>
            <a:r>
              <a:t>Largest segment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20040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75320" y="1856231"/>
            <a:ext cx="640080" cy="640080"/>
          </a:xfrm>
          <a:prstGeom prst="ellipse">
            <a:avLst/>
          </a:prstGeom>
          <a:solidFill>
            <a:srgbClr val="5C5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0391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LOW PRODUCTIVITY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DABBE"/>
                </a:solidFill>
                <a:latin typeface="Aptos"/>
              </a:defRPr>
            </a:pPr>
            <a:r>
              <a:t>Substantial segment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20440"/>
            <a:ext cx="10515600" cy="155448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7947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HR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Aptos"/>
              </a:defRPr>
            </a:pPr>
            <a:r>
              <a:t>Identify  →  Understand  →  Intervene  → 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177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0E7EF"/>
                </a:solidFill>
                <a:latin typeface="Aptos"/>
              </a:defRPr>
            </a:pPr>
            <a:r>
              <a:t>Use the dashboard to locate productivity patterns, investigate contributing factors and monitor intervention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Training &amp; Productivity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Training-hour distribution and its HR implications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4754880" cy="429768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TRAINING HOURS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" y="2176272"/>
            <a:ext cx="2651760" cy="201168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" y="2176272"/>
            <a:ext cx="1535899" cy="201168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12140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DABBE"/>
                </a:solidFill>
                <a:latin typeface="Aptos"/>
              </a:defRPr>
            </a:pPr>
            <a:r>
              <a:t>57.92%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" y="2999232"/>
            <a:ext cx="2651760" cy="201168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" y="2999232"/>
            <a:ext cx="1016419" cy="201168"/>
          </a:xfrm>
          <a:prstGeom prst="rect">
            <a:avLst/>
          </a:prstGeom>
          <a:solidFill>
            <a:srgbClr val="5C5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9443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DABBE"/>
                </a:solidFill>
                <a:latin typeface="Aptos"/>
              </a:defRPr>
            </a:pPr>
            <a:r>
              <a:t>38.33%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94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" y="3822192"/>
            <a:ext cx="2651760" cy="201168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" y="3822192"/>
            <a:ext cx="99441" cy="201168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36592" y="37673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DABBE"/>
                </a:solidFill>
                <a:latin typeface="Aptos"/>
              </a:defRPr>
            </a:pPr>
            <a:r>
              <a:t>3.75%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091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139 Medium  •  92 Low  •  9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417320"/>
            <a:ext cx="169164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157276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8928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57.92%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417320"/>
            <a:ext cx="45720" cy="1188720"/>
          </a:xfrm>
          <a:prstGeom prst="rect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43800" y="1417320"/>
            <a:ext cx="169164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157276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8928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38.33%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417320"/>
            <a:ext cx="45720" cy="1188720"/>
          </a:xfrm>
          <a:prstGeom prst="rect">
            <a:avLst/>
          </a:prstGeom>
          <a:solidFill>
            <a:srgbClr val="5C5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18320" y="1417320"/>
            <a:ext cx="169164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157276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18928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3.75%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1417320"/>
            <a:ext cx="45720" cy="1188720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669280" y="3063240"/>
            <a:ext cx="5486400" cy="21031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338328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0E7EF"/>
                </a:solidFill>
                <a:latin typeface="Aptos"/>
              </a:defRPr>
            </a:pPr>
            <a:r>
              <a:t>• Average employee training hours: 10.96 hours.</a:t>
            </a:r>
          </a:p>
          <a:p>
            <a:pPr>
              <a:spcAft>
                <a:spcPts val="700"/>
              </a:spcAft>
              <a:defRPr sz="1150">
                <a:solidFill>
                  <a:srgbClr val="E0E7EF"/>
                </a:solidFill>
                <a:latin typeface="Aptos"/>
              </a:defRPr>
            </a:pPr>
            <a:r>
              <a:t>• Most employees fall within the medium-training category.</a:t>
            </a:r>
          </a:p>
          <a:p>
            <a:pPr>
              <a:spcAft>
                <a:spcPts val="700"/>
              </a:spcAft>
              <a:defRPr sz="1150">
                <a:solidFill>
                  <a:srgbClr val="E0E7EF"/>
                </a:solidFill>
                <a:latin typeface="Aptos"/>
              </a:defRPr>
            </a:pPr>
            <a:r>
              <a:t>• Only a small proportion receive high levels of training.</a:t>
            </a:r>
          </a:p>
          <a:p>
            <a:pPr>
              <a:spcAft>
                <a:spcPts val="700"/>
              </a:spcAft>
              <a:defRPr sz="1150">
                <a:solidFill>
                  <a:srgbClr val="E0E7EF"/>
                </a:solidFill>
                <a:latin typeface="Aptos"/>
              </a:defRPr>
            </a:pPr>
            <a:r>
              <a:t>• HR can investigate whether targeted additional training supports productivity and performance.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Monthly Employee Utilization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Tracking workforce utilization across the review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315200" cy="43891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5120640"/>
            <a:ext cx="6355080" cy="10972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4274820"/>
            <a:ext cx="6355080" cy="10972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34440" y="3429000"/>
            <a:ext cx="6355080" cy="10972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2583179"/>
            <a:ext cx="6355080" cy="10972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34440" y="1737360"/>
            <a:ext cx="6355080" cy="10972"/>
          </a:xfrm>
          <a:prstGeom prst="rect">
            <a:avLst/>
          </a:prstGeom>
          <a:solidFill>
            <a:srgbClr val="37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19027288">
            <a:off x="1234440" y="2856531"/>
            <a:ext cx="788395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rot="4215176">
            <a:off x="1812174" y="2320070"/>
            <a:ext cx="1709938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rot="3427859">
            <a:off x="2389909" y="3929453"/>
            <a:ext cx="1064516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rot="17384824">
            <a:off x="2967643" y="4823554"/>
            <a:ext cx="1709938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 rot="20194295">
            <a:off x="3545378" y="3214172"/>
            <a:ext cx="629643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1580764">
            <a:off x="4123112" y="2963823"/>
            <a:ext cx="644699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17446013">
            <a:off x="4700847" y="3249936"/>
            <a:ext cx="1629410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rot="4637164">
            <a:off x="5278581" y="1726387"/>
            <a:ext cx="2625070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 rot="3222665">
            <a:off x="5856316" y="4287093"/>
            <a:ext cx="976138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 rot="212539">
            <a:off x="6434050" y="5073903"/>
            <a:ext cx="578840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 rot="17898064">
            <a:off x="7011785" y="5109667"/>
            <a:ext cx="1218580" cy="21945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02436" y="2835500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780170" y="2299039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57905" y="3908422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35639" y="4802523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13374" y="3193140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91108" y="2942792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68843" y="3228904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246577" y="1705356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24312" y="4266062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02046" y="5052871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79781" y="5088636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557516" y="4015714"/>
            <a:ext cx="64008" cy="64008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DABBE"/>
                </a:solidFill>
                <a:latin typeface="Aptos"/>
              </a:defRPr>
            </a:pPr>
            <a:r>
              <a:t>Jan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DABBE"/>
                </a:solidFill>
                <a:latin typeface="Aptos"/>
              </a:defRPr>
            </a:pPr>
            <a:r>
              <a:t>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82696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DABBE"/>
                </a:solidFill>
                <a:latin typeface="Aptos"/>
              </a:defRPr>
            </a:pPr>
            <a:r>
              <a:t>May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9704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DABBE"/>
                </a:solidFill>
                <a:latin typeface="Aptos"/>
              </a:defRPr>
            </a:pPr>
            <a:r>
              <a:t>Jul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6712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DABBE"/>
                </a:solidFill>
                <a:latin typeface="Aptos"/>
              </a:defRPr>
            </a:pPr>
            <a:r>
              <a:t>Sep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DABBE"/>
                </a:solidFill>
                <a:latin typeface="Aptos"/>
              </a:defRPr>
            </a:pPr>
            <a:r>
              <a:t>Nov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141732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15727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AVERAGE UTILIZATION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1892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55.35%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1417320"/>
            <a:ext cx="45720" cy="1188720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75320" y="2834640"/>
            <a:ext cx="24688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299008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PEAK SHOWN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101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60.66%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2834640"/>
            <a:ext cx="45720" cy="1188720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275320" y="4297680"/>
            <a:ext cx="2468880" cy="132588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0" y="4553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HR IMPLICATION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864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7EF"/>
                </a:solidFill>
                <a:latin typeface="Aptos"/>
              </a:defRPr>
            </a:pPr>
            <a:r>
              <a:t>Review workload, staffing and project allocation when utilization changes materially.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Star Performer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Employees combining strong performance ratings with high utilization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UTILIZATION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10241280" cy="713232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025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Employee 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025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Customer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02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002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81.48%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97480"/>
            <a:ext cx="10241280" cy="713232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9169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Employee 186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169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169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16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81.33%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11880"/>
            <a:ext cx="10241280" cy="713232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313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Employee 042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313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313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8313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80.33%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0600"/>
            <a:ext cx="10241280" cy="91440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04748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47E34"/>
                </a:solidFill>
                <a:latin typeface="Aptos"/>
              </a:defRPr>
            </a:pPr>
            <a:r>
              <a:t>HR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EF"/>
                </a:solidFill>
                <a:latin typeface="Aptos"/>
              </a:defRPr>
            </a:pPr>
            <a:r>
              <a:t>These employees demonstrate relatively strong combinations of performance rating and utilization and can support recognition or knowledge-sharing initiatives.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What-If &amp; Scenario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Testing potential interventions before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029200" cy="18288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SCENARIO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Training Hours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933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C4DA"/>
                </a:solidFill>
                <a:latin typeface="Aptos"/>
              </a:defRPr>
            </a:pPr>
            <a:r>
              <a:t>0%  →  +20%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Target Achievement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BE9E"/>
                </a:solidFill>
                <a:latin typeface="Aptos"/>
              </a:defRPr>
            </a:pPr>
            <a:r>
              <a:t>0%  →  +15%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325880"/>
            <a:ext cx="5257800" cy="18288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SCENARIO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141732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07568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3.98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920240"/>
            <a:ext cx="45720" cy="1188720"/>
          </a:xfrm>
          <a:prstGeom prst="rect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0" y="1920240"/>
            <a:ext cx="141732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207568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UTILIZATION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39572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66.42%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920240"/>
            <a:ext cx="45720" cy="1188720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554480" cy="118872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2075688"/>
            <a:ext cx="11887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9DABBE"/>
                </a:solidFill>
                <a:latin typeface="Aptos"/>
              </a:defRPr>
            </a:pPr>
            <a:r>
              <a:t>TARGET ACHIEVEMENT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39572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85.24%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1920240"/>
            <a:ext cx="45720" cy="1188720"/>
          </a:xfrm>
          <a:prstGeom prst="rect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3474720"/>
            <a:ext cx="10515600" cy="173736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9651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0E7EF"/>
                </a:solidFill>
                <a:latin typeface="Aptos"/>
              </a:defRPr>
            </a:pPr>
            <a:r>
              <a:t>• The scenario model allows HR to evaluate the potential effect of proposed changes before implementation.</a:t>
            </a:r>
          </a:p>
          <a:p>
            <a:pPr>
              <a:spcAft>
                <a:spcPts val="700"/>
              </a:spcAft>
              <a:defRPr sz="1250">
                <a:solidFill>
                  <a:srgbClr val="E0E7EF"/>
                </a:solidFill>
                <a:latin typeface="Aptos"/>
              </a:defRPr>
            </a:pPr>
            <a:r>
              <a:t>• Changing assumptions provides a structured way to support data-driven workforce planning.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HR Improvement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Turning dashboard findings into practical interventions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561320" cy="749808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362456"/>
            <a:ext cx="457200" cy="457200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96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807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Targeted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5331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Provide additional training to employees in low-productivity or low-training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94560"/>
            <a:ext cx="10561320" cy="749808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322576"/>
            <a:ext cx="457200" cy="457200"/>
          </a:xfrm>
          <a:prstGeom prst="ellipse">
            <a:avLst/>
          </a:prstGeom>
          <a:solidFill>
            <a:srgbClr val="34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5973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3408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Workload Balancing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1343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Review workload distribution to improve utilization while avoiding excessive workload.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10561320" cy="749808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3282696"/>
            <a:ext cx="457200" cy="457200"/>
          </a:xfrm>
          <a:prstGeom prst="ellipse">
            <a:avLst/>
          </a:prstGeom>
          <a:solidFill>
            <a:srgbClr val="2A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41985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009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Mentoring &amp; Knowledge Sharing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7355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Encourage high-performing employees to share effective practices.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14800"/>
            <a:ext cx="10561320" cy="749808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242816"/>
            <a:ext cx="457200" cy="457200"/>
          </a:xfrm>
          <a:prstGeom prst="ellipse">
            <a:avLst/>
          </a:prstGeom>
          <a:solidFill>
            <a:srgbClr val="F4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7997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611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Department-Level Interventions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3367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Design interventions specific to department-level performance patterns.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561320" cy="749808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5202936"/>
            <a:ext cx="457200" cy="457200"/>
          </a:xfrm>
          <a:prstGeom prst="ellipse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34009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2212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Continuous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1937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0E7EF"/>
                </a:solidFill>
                <a:latin typeface="Aptos"/>
              </a:defRPr>
            </a:pPr>
            <a:r>
              <a:t>Track performance, utilization and productivity regularly through Power BI.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From Insights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A practical HR action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1600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Targeted skill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Improve 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37560" cy="1600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347DF6"/>
                </a:solidFill>
                <a:latin typeface="Aptos"/>
              </a:defRPr>
            </a:pPr>
            <a:r>
              <a:t>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928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Identify low-productivity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963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Performance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337560" cy="1600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47E34"/>
                </a:solidFill>
                <a:latin typeface="Aptos"/>
              </a:defRPr>
            </a:pPr>
            <a:r>
              <a:t>WORKLOAD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Review employee workload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963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Better utilization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3337560" cy="1600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ABE9E"/>
                </a:solidFill>
                <a:latin typeface="Aptos"/>
              </a:defRPr>
            </a:pPr>
            <a:r>
              <a:t>HIGH PERFORMERS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04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Recognition &amp; mentoring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07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Knowledge sharing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337560" cy="1600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520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7C4DA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04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Department-specific interventions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507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Targeted improvement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37560"/>
            <a:ext cx="3337560" cy="160020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520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347DF6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04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Regular dashboard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07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BBE"/>
                </a:solidFill>
                <a:latin typeface="Aptos"/>
              </a:defRPr>
            </a:pPr>
            <a:r>
              <a:t>Continuous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5532120"/>
            <a:ext cx="8869680" cy="59436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28800" y="5715000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From dashboard insight to measurable HR 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Key takeaways from the employee performance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492240" cy="425196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E0E7EF"/>
                </a:solidFill>
                <a:latin typeface="Aptos"/>
              </a:defRPr>
            </a:pPr>
            <a:r>
              <a:t>• The analysis provides a consolidated view of employee performance, productivity, utilization and training.</a:t>
            </a:r>
          </a:p>
          <a:p>
            <a:pPr>
              <a:spcAft>
                <a:spcPts val="700"/>
              </a:spcAft>
              <a:defRPr sz="1350">
                <a:solidFill>
                  <a:srgbClr val="E0E7EF"/>
                </a:solidFill>
                <a:latin typeface="Aptos"/>
              </a:defRPr>
            </a:pPr>
            <a:r>
              <a:t>• The dashboard enables HR to identify performance patterns and areas requiring attention.</a:t>
            </a:r>
          </a:p>
          <a:p>
            <a:pPr>
              <a:spcAft>
                <a:spcPts val="700"/>
              </a:spcAft>
              <a:defRPr sz="1350">
                <a:solidFill>
                  <a:srgbClr val="E0E7EF"/>
                </a:solidFill>
                <a:latin typeface="Aptos"/>
              </a:defRPr>
            </a:pPr>
            <a:r>
              <a:t>• Scenario analysis provides a way to evaluate potential interventions before implementation.</a:t>
            </a:r>
          </a:p>
          <a:p>
            <a:pPr>
              <a:spcAft>
                <a:spcPts val="700"/>
              </a:spcAft>
              <a:defRPr sz="1350">
                <a:solidFill>
                  <a:srgbClr val="E0E7EF"/>
                </a:solidFill>
                <a:latin typeface="Aptos"/>
              </a:defRPr>
            </a:pPr>
            <a:r>
              <a:t>• Combining training, workload management, mentoring and continuous monitoring can support evidence-based HR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25880"/>
            <a:ext cx="3703320" cy="4251960"/>
          </a:xfrm>
          <a:prstGeom prst="roundRect">
            <a:avLst/>
          </a:prstGeom>
          <a:solidFill>
            <a:srgbClr val="122E3E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317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Data-driven HR decisions can transform employee performance insights into measurable workforce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5262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C4D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5262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47DF6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5262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ABE9E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Tools &amp; Analytical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DABBE"/>
                </a:solidFill>
                <a:latin typeface="Aptos"/>
              </a:defRPr>
            </a:pPr>
            <a:r>
              <a:t>Technology stack used to build the HR analytics deliverable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120640" cy="356616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ABE9E"/>
                </a:solidFill>
                <a:latin typeface="Aptos"/>
              </a:defRPr>
            </a:pPr>
            <a:r>
              <a:t>MICROSOFT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Data preparation</a:t>
            </a:r>
          </a:p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Data analysis</a:t>
            </a:r>
          </a:p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Scenario-based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5074920" cy="3566160"/>
          </a:xfrm>
          <a:prstGeom prst="roundRect">
            <a:avLst/>
          </a:prstGeom>
          <a:solidFill>
            <a:srgbClr val="152239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C4DA"/>
                </a:solidFill>
                <a:latin typeface="Aptos"/>
              </a:defRPr>
            </a:pPr>
            <a:r>
              <a:t>MICROSOFT 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Interactive dashboard</a:t>
            </a:r>
          </a:p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KPI visualization</a:t>
            </a:r>
          </a:p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Department analysis</a:t>
            </a:r>
          </a:p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What-If parameters</a:t>
            </a:r>
          </a:p>
          <a:p>
            <a:pPr>
              <a:spcAft>
                <a:spcPts val="700"/>
              </a:spcAft>
              <a:defRPr sz="1400">
                <a:solidFill>
                  <a:srgbClr val="E0E7EF"/>
                </a:solidFill>
                <a:latin typeface="Aptos"/>
              </a:defRPr>
            </a:pPr>
            <a:r>
              <a:t>• Scenario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7E34"/>
                </a:solidFill>
                <a:latin typeface="Aptos"/>
              </a:defRPr>
            </a:pPr>
            <a:r>
              <a:t>ANALYTICAL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t>Performance  •  Productivity  •  Utilization  •  Training  •  Target Achievement  •  Employee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DABBE"/>
                </a:solidFill>
                <a:latin typeface="Aptos"/>
              </a:defRPr>
            </a:pPr>
            <a:r>
              <a:t>EMPLOYEE PERFORMANCE &amp; PRODUCTIVITY  •  HR ANALYTICS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we\Pictures\Screenshots\Screenshot 2026-09-27 09540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75" y="203200"/>
            <a:ext cx="12109450" cy="645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we\Pictures\Screenshots\Screenshot 2026-09-27 09541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75" y="200025"/>
            <a:ext cx="12109450" cy="6457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944</Words>
  <Application>Microsoft Macintosh PowerPoint</Application>
  <PresentationFormat>Custom</PresentationFormat>
  <Paragraphs>223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Swe</dc:creator>
  <dc:description>generated using python-pptx</dc:description>
  <cp:lastModifiedBy>Swe</cp:lastModifiedBy>
  <cp:revision>2</cp:revision>
  <dcterms:created xsi:type="dcterms:W3CDTF">2013-01-27T09:14:16Z</dcterms:created>
  <dcterms:modified xsi:type="dcterms:W3CDTF">2026-09-27T04:25:49Z</dcterms:modified>
</cp:coreProperties>
</file>